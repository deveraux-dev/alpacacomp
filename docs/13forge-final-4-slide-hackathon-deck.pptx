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a40375c274d65" /><Relationship Type="http://schemas.openxmlformats.org/officeDocument/2006/relationships/extended-properties" Target="/docProps/app.xml" Id="Rbe3f661ec220403a" /><Relationship Type="http://schemas.openxmlformats.org/officeDocument/2006/relationships/officeDocument" Target="/ppt/presentation.xml" Id="R749ed44c8628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473daa86e48fa"/>
  </p:sldMasterIdLst>
  <p:notesMasterIdLst>
    <p:notesMasterId xmlns:r="http://schemas.openxmlformats.org/officeDocument/2006/relationships" r:id="Rc35496fbace64115"/>
  </p:notesMasterIdLst>
  <p:sldIdLst>
    <p:sldId xmlns:r="http://schemas.openxmlformats.org/officeDocument/2006/relationships" id="256" r:id="R40caf09b1a7345f0"/>
    <p:sldId xmlns:r="http://schemas.openxmlformats.org/officeDocument/2006/relationships" id="257" r:id="R6330eb6d15cd4f66"/>
    <p:sldId xmlns:r="http://schemas.openxmlformats.org/officeDocument/2006/relationships" id="258" r:id="R3b5202b234da442c"/>
    <p:sldId xmlns:r="http://schemas.openxmlformats.org/officeDocument/2006/relationships" id="259" r:id="Rd0e6d5030ecc48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3825ed534585462f" /><Relationship Type="http://schemas.openxmlformats.org/officeDocument/2006/relationships/slideMaster" Target="/ppt/slideMasters/slideMaster1.xml" Id="Rd64473daa86e48fa" /><Relationship Type="http://schemas.openxmlformats.org/officeDocument/2006/relationships/notesMaster" Target="/ppt/notesMasters/notesMaster1.xml" Id="Rc35496fbace64115" /><Relationship Type="http://schemas.openxmlformats.org/officeDocument/2006/relationships/presProps" Target="/ppt/presProps.xml" Id="Rce71fff428ed4abe" /><Relationship Type="http://schemas.openxmlformats.org/officeDocument/2006/relationships/tableStyles" Target="/ppt/tableStyles.xml" Id="R9be64e82028a43e0" /><Relationship Type="http://schemas.openxmlformats.org/officeDocument/2006/relationships/slide" Target="/ppt/slides/slide1.xml" Id="R40caf09b1a7345f0" /><Relationship Type="http://schemas.openxmlformats.org/officeDocument/2006/relationships/slide" Target="/ppt/slides/slide2.xml" Id="R6330eb6d15cd4f66" /><Relationship Type="http://schemas.openxmlformats.org/officeDocument/2006/relationships/slide" Target="/ppt/slides/slide3.xml" Id="R3b5202b234da442c" /><Relationship Type="http://schemas.openxmlformats.org/officeDocument/2006/relationships/slide" Target="/ppt/slides/slide4.xml" Id="Rd0e6d5030ecc48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f1f973ffaa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4822e3fddd4dc1" /><Relationship Type="http://schemas.openxmlformats.org/officeDocument/2006/relationships/notesMaster" Target="/ppt/notesMasters/notesMaster1.xml" Id="R06b85d98c81a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5ac23c95b4cab" /><Relationship Type="http://schemas.openxmlformats.org/officeDocument/2006/relationships/notesMaster" Target="/ppt/notesMasters/notesMaster1.xml" Id="Rebbbfb073577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a3335bc954e52" /><Relationship Type="http://schemas.openxmlformats.org/officeDocument/2006/relationships/notesMaster" Target="/ppt/notesMasters/notesMaster1.xml" Id="R5e38362a6dbd42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74b9ad3ec14493" /><Relationship Type="http://schemas.openxmlformats.org/officeDocument/2006/relationships/notesMaster" Target="/ppt/notesMasters/notesMaster1.xml" Id="R301f0a5943c64fb2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Open with the judge-facing risk. Autonomous trading agents are becoming easier to build, but the hard part is not generating an idea. The hard part is proving that a bad idea cannot quietly become a broker order.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Position the product as a control layer, not a prediction app. 13forge lets the AI contribute the thesis, then moves execution authority into a deterministic Rust airlock that reconstructs, checks, and records the result.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Make the technical difference clear. The model is upstream of execution, not inside the final order-writing step. The live path checks governor state, position-state, oracle verdict, market purity, leg geometry, and max-loss before the Alpaca boundary.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/>
          <p:nvPr>
            <p:ph type="sldImg" idx="0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solidFill>
                  <a:srgbClr val="000000"/>
                </a:solidFill>
                <a:latin typeface="Aptos"/>
              </a:rPr>
              <a:t>Close with evidence, not a thank-you slide. The public demo gives judges a simple artifact to remember: an unsafe options idea is evaluated, refused, and kept away from Alpaca. The winning message is controlled agency.</a:t>
            </a: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0bdb7fc5c42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47ccfd7c034951" /><Relationship Type="http://schemas.openxmlformats.org/officeDocument/2006/relationships/slideLayout" Target="/ppt/slideLayouts/slideLayout1.xml" Id="R46dfef1fb463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dfef1fb463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8c88ce5454299" /><Relationship Type="http://schemas.openxmlformats.org/officeDocument/2006/relationships/notesSlide" Target="/ppt/notesSlides/notesSlide1.xml" Id="R1382c3db484148d5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95cfb99fdbe4ace" /><Relationship Type="http://schemas.openxmlformats.org/officeDocument/2006/relationships/notesSlide" Target="/ppt/notesSlides/notesSlide2.xml" Id="R2c18858973034d44" /><Relationship Type="http://schemas.openxmlformats.org/officeDocument/2006/relationships/image" Target="../media/slide2-product-proof-crop.png" Id="rIdProductProo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53e7e49af41a4" /><Relationship Type="http://schemas.openxmlformats.org/officeDocument/2006/relationships/notesSlide" Target="/ppt/notesSlides/notesSlide3.xml" Id="Rc40b8bc91a0048bf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49968ba959c4af8" /><Relationship Type="http://schemas.openxmlformats.org/officeDocument/2006/relationships/notesSlide" Target="/ppt/notesSlides/notesSlide4.xml" Id="R393fa8b1dc2a4bee" /><Relationship Type="http://schemas.openxmlformats.org/officeDocument/2006/relationships/image" Target="../media/slide4-refusal-proof-crop.png" Id="rIdRefusalProof" /><Relationship Type="http://schemas.openxmlformats.org/officeDocument/2006/relationships/image" Target="../media/proof-video-qr.png" Id="rIdProofQr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0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01" name="Title"/>
          <p:cNvSpPr/>
          <p:nvPr/>
        </p:nvSpPr>
        <p:spPr>
          <a:xfrm>
            <a:off x="612648" y="1325880"/>
            <a:ext cx="9784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4000" b="1">
                <a:solidFill>
                  <a:srgbClr val="F5F7F5"/>
                </a:solidFill>
                <a:latin typeface="Aptos Display"/>
              </a:rPr>
              <a:t>AI trading fails when ideas become orders too fast.</a:t>
            </a:r>
          </a:p>
        </p:txBody>
      </p:sp>
      <p:sp>
        <p:nvSpPr>
          <p:cNvPr id="102" name="Subtitle"/>
          <p:cNvSpPr/>
          <p:nvPr/>
        </p:nvSpPr>
        <p:spPr>
          <a:xfrm>
            <a:off x="630936" y="2697480"/>
            <a:ext cx="8092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900">
                <a:solidFill>
                  <a:srgbClr val="9CA3AF"/>
                </a:solidFill>
                <a:latin typeface="Aptos"/>
              </a:rPr>
              <a:t>One hallucinated strike or missed risk check can send real capital to the broker.</a:t>
            </a:r>
          </a:p>
        </p:txBody>
      </p:sp>
      <p:sp>
        <p:nvSpPr>
          <p:cNvPr id="103" name="Flow panel"/>
          <p:cNvSpPr/>
          <p:nvPr/>
        </p:nvSpPr>
        <p:spPr>
          <a:xfrm>
            <a:off x="731520" y="4224528"/>
            <a:ext cx="10744200" cy="109728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04" name="Flow 1"/>
          <p:cNvSpPr/>
          <p:nvPr/>
        </p:nvSpPr>
        <p:spPr>
          <a:xfrm>
            <a:off x="1170432" y="46177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Aptos"/>
              </a:rPr>
              <a:t>LLM thesis</a:t>
            </a:r>
          </a:p>
        </p:txBody>
      </p:sp>
      <p:sp>
        <p:nvSpPr>
          <p:cNvPr id="105" name="Arrow 1"/>
          <p:cNvSpPr/>
          <p:nvPr/>
        </p:nvSpPr>
        <p:spPr>
          <a:xfrm>
            <a:off x="3520440" y="4544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400" b="1">
                <a:solidFill>
                  <a:srgbClr val="43B96B"/>
                </a:solidFill>
                <a:latin typeface="Consolas"/>
              </a:rPr>
              <a:t>&gt;</a:t>
            </a:r>
          </a:p>
        </p:txBody>
      </p:sp>
      <p:sp>
        <p:nvSpPr>
          <p:cNvPr id="106" name="Flow 2"/>
          <p:cNvSpPr/>
          <p:nvPr/>
        </p:nvSpPr>
        <p:spPr>
          <a:xfrm>
            <a:off x="4389120" y="461772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FF3D56"/>
                </a:solidFill>
                <a:latin typeface="Aptos"/>
              </a:rPr>
              <a:t>Unsafe trade</a:t>
            </a:r>
          </a:p>
        </p:txBody>
      </p:sp>
      <p:sp>
        <p:nvSpPr>
          <p:cNvPr id="107" name="Stop"/>
          <p:cNvSpPr/>
          <p:nvPr/>
        </p:nvSpPr>
        <p:spPr>
          <a:xfrm>
            <a:off x="6812280" y="4544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400" b="1">
                <a:solidFill>
                  <a:srgbClr val="FF3D56"/>
                </a:solidFill>
                <a:latin typeface="Consolas"/>
              </a:rPr>
              <a:t>x</a:t>
            </a:r>
          </a:p>
        </p:txBody>
      </p:sp>
      <p:sp>
        <p:nvSpPr>
          <p:cNvPr id="108" name="Flow 3"/>
          <p:cNvSpPr/>
          <p:nvPr/>
        </p:nvSpPr>
        <p:spPr>
          <a:xfrm>
            <a:off x="7726680" y="46177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Aptos"/>
              </a:rPr>
              <a:t>Broker order</a:t>
            </a:r>
          </a:p>
        </p:txBody>
      </p:sp>
      <p:sp>
        <p:nvSpPr>
          <p:cNvPr id="109" name="Footer"/>
          <p:cNvSpPr/>
          <p:nvPr/>
        </p:nvSpPr>
        <p:spPr>
          <a:xfrm>
            <a:off x="612648" y="614476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200" b="1">
                <a:solidFill>
                  <a:srgbClr val="43B96B"/>
                </a:solidFill>
                <a:latin typeface="Aptos"/>
              </a:rPr>
              <a:t>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0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11" name="Title"/>
          <p:cNvSpPr/>
          <p:nvPr/>
        </p:nvSpPr>
        <p:spPr>
          <a:xfrm>
            <a:off x="612648" y="960120"/>
            <a:ext cx="566928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200" b="1">
                <a:solidFill>
                  <a:srgbClr val="F5F7F5"/>
                </a:solidFill>
                <a:latin typeface="Aptos Display"/>
              </a:rPr>
              <a:t>13forge makes AI ask for permission.</a:t>
            </a:r>
          </a:p>
        </p:txBody>
      </p:sp>
      <p:sp>
        <p:nvSpPr>
          <p:cNvPr id="112" name="Subtitle"/>
          <p:cNvSpPr/>
          <p:nvPr/>
        </p:nvSpPr>
        <p:spPr>
          <a:xfrm>
            <a:off x="630936" y="2176272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600">
                <a:solidFill>
                  <a:srgbClr val="9CA3AF"/>
                </a:solidFill>
                <a:latin typeface="Aptos"/>
              </a:rPr>
              <a:t>The model proposes a bounded thesis. Rust rebuilds, checks, and records the result.</a:t>
            </a:r>
          </a:p>
        </p:txBody>
      </p:sp>
      <p:pic>
        <p:nvPicPr>
          <p:cNvPr id="113" name="Proof Portal replay screenshot" descr="Proof Portal replay screenshot"/>
          <p:cNvPicPr>
            <a:picLocks noChangeAspect="1"/>
          </p:cNvPicPr>
          <p:nvPr/>
        </p:nvPicPr>
        <p:blipFill>
          <a:blip r:embed="rIdProductProof"/>
          <a:stretch>
            <a:fillRect/>
          </a:stretch>
        </p:blipFill>
        <p:spPr>
          <a:xfrm>
            <a:off x="6080760" y="960120"/>
            <a:ext cx="5257800" cy="3931920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14" name="Step 1"/>
          <p:cNvSpPr/>
          <p:nvPr/>
        </p:nvSpPr>
        <p:spPr>
          <a:xfrm>
            <a:off x="74980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15" name="Step number 1"/>
          <p:cNvSpPr/>
          <p:nvPr/>
        </p:nvSpPr>
        <p:spPr>
          <a:xfrm>
            <a:off x="89611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1</a:t>
            </a:r>
          </a:p>
        </p:txBody>
      </p:sp>
      <p:sp>
        <p:nvSpPr>
          <p:cNvPr id="116" name="Step title 1"/>
          <p:cNvSpPr/>
          <p:nvPr/>
        </p:nvSpPr>
        <p:spPr>
          <a:xfrm>
            <a:off x="122529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AI thesis</a:t>
            </a:r>
          </a:p>
        </p:txBody>
      </p:sp>
      <p:sp>
        <p:nvSpPr>
          <p:cNvPr id="117" name="Step body 1"/>
          <p:cNvSpPr/>
          <p:nvPr/>
        </p:nvSpPr>
        <p:spPr>
          <a:xfrm>
            <a:off x="122529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Idea only</a:t>
            </a:r>
          </a:p>
        </p:txBody>
      </p:sp>
      <p:sp>
        <p:nvSpPr>
          <p:cNvPr id="118" name="Step 2"/>
          <p:cNvSpPr/>
          <p:nvPr/>
        </p:nvSpPr>
        <p:spPr>
          <a:xfrm>
            <a:off x="248716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19" name="Step number 2"/>
          <p:cNvSpPr/>
          <p:nvPr/>
        </p:nvSpPr>
        <p:spPr>
          <a:xfrm>
            <a:off x="263347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2</a:t>
            </a:r>
          </a:p>
        </p:txBody>
      </p:sp>
      <p:sp>
        <p:nvSpPr>
          <p:cNvPr id="120" name="Step title 2"/>
          <p:cNvSpPr/>
          <p:nvPr/>
        </p:nvSpPr>
        <p:spPr>
          <a:xfrm>
            <a:off x="296265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Rust airlock</a:t>
            </a:r>
          </a:p>
        </p:txBody>
      </p:sp>
      <p:sp>
        <p:nvSpPr>
          <p:cNvPr id="121" name="Step body 2"/>
          <p:cNvSpPr/>
          <p:nvPr/>
        </p:nvSpPr>
        <p:spPr>
          <a:xfrm>
            <a:off x="296265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Seven checks</a:t>
            </a:r>
          </a:p>
        </p:txBody>
      </p:sp>
      <p:sp>
        <p:nvSpPr>
          <p:cNvPr id="122" name="Step 3"/>
          <p:cNvSpPr/>
          <p:nvPr/>
        </p:nvSpPr>
        <p:spPr>
          <a:xfrm>
            <a:off x="4224528" y="3154680"/>
            <a:ext cx="1463040" cy="100584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23" name="Step number 3"/>
          <p:cNvSpPr/>
          <p:nvPr/>
        </p:nvSpPr>
        <p:spPr>
          <a:xfrm>
            <a:off x="4370832" y="3364992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43B96B"/>
                </a:solidFill>
                <a:latin typeface="Consolas"/>
              </a:rPr>
              <a:t>3</a:t>
            </a:r>
          </a:p>
        </p:txBody>
      </p:sp>
      <p:sp>
        <p:nvSpPr>
          <p:cNvPr id="124" name="Step title 3"/>
          <p:cNvSpPr/>
          <p:nvPr/>
        </p:nvSpPr>
        <p:spPr>
          <a:xfrm>
            <a:off x="4700016" y="3383280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Receipt</a:t>
            </a:r>
          </a:p>
        </p:txBody>
      </p:sp>
      <p:sp>
        <p:nvSpPr>
          <p:cNvPr id="125" name="Step body 3"/>
          <p:cNvSpPr/>
          <p:nvPr/>
        </p:nvSpPr>
        <p:spPr>
          <a:xfrm>
            <a:off x="4700016" y="376732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>
                <a:solidFill>
                  <a:srgbClr val="9CA3AF"/>
                </a:solidFill>
                <a:latin typeface="Aptos"/>
              </a:rPr>
              <a:t>Refuse by default</a:t>
            </a:r>
          </a:p>
        </p:txBody>
      </p:sp>
      <p:sp>
        <p:nvSpPr>
          <p:cNvPr id="126" name="Close"/>
          <p:cNvSpPr/>
          <p:nvPr/>
        </p:nvSpPr>
        <p:spPr>
          <a:xfrm>
            <a:off x="749808" y="5440680"/>
            <a:ext cx="53035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 b="1">
                <a:solidFill>
                  <a:srgbClr val="43B96B"/>
                </a:solidFill>
                <a:latin typeface="Aptos Display"/>
              </a:rPr>
              <a:t>A real product, not a slide-only concept.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7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28" name="Title"/>
          <p:cNvSpPr/>
          <p:nvPr/>
        </p:nvSpPr>
        <p:spPr>
          <a:xfrm>
            <a:off x="612648" y="1078992"/>
            <a:ext cx="96926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600" b="1">
                <a:solidFill>
                  <a:srgbClr val="F5F7F5"/>
                </a:solidFill>
                <a:latin typeface="Aptos Display"/>
              </a:rPr>
              <a:t>The order path is a deterministic airlock.</a:t>
            </a:r>
          </a:p>
        </p:txBody>
      </p:sp>
      <p:sp>
        <p:nvSpPr>
          <p:cNvPr id="129" name="Subtitle"/>
          <p:cNvSpPr/>
          <p:nvPr/>
        </p:nvSpPr>
        <p:spPr>
          <a:xfrm>
            <a:off x="630936" y="1874520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>
                <a:solidFill>
                  <a:srgbClr val="9CA3AF"/>
                </a:solidFill>
                <a:latin typeface="Aptos"/>
              </a:rPr>
              <a:t>Verified gates run before Alpaca is reached.</a:t>
            </a:r>
          </a:p>
        </p:txBody>
      </p:sp>
      <p:sp>
        <p:nvSpPr>
          <p:cNvPr id="130" name="Gate 1"/>
          <p:cNvSpPr/>
          <p:nvPr/>
        </p:nvSpPr>
        <p:spPr>
          <a:xfrm>
            <a:off x="5029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31" name="Gate number 1"/>
          <p:cNvSpPr/>
          <p:nvPr/>
        </p:nvSpPr>
        <p:spPr>
          <a:xfrm>
            <a:off x="6492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01</a:t>
            </a:r>
          </a:p>
        </p:txBody>
      </p:sp>
      <p:sp>
        <p:nvSpPr>
          <p:cNvPr id="132" name="Gate label 1"/>
          <p:cNvSpPr/>
          <p:nvPr/>
        </p:nvSpPr>
        <p:spPr>
          <a:xfrm>
            <a:off x="6492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Governor</a:t>
            </a:r>
          </a:p>
        </p:txBody>
      </p:sp>
      <p:sp>
        <p:nvSpPr>
          <p:cNvPr id="133" name="Gate arrow 1"/>
          <p:cNvSpPr/>
          <p:nvPr/>
        </p:nvSpPr>
        <p:spPr>
          <a:xfrm>
            <a:off x="18928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34" name="Gate 2"/>
          <p:cNvSpPr/>
          <p:nvPr/>
        </p:nvSpPr>
        <p:spPr>
          <a:xfrm>
            <a:off x="21031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35" name="Gate number 2"/>
          <p:cNvSpPr/>
          <p:nvPr/>
        </p:nvSpPr>
        <p:spPr>
          <a:xfrm>
            <a:off x="22494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02</a:t>
            </a:r>
          </a:p>
        </p:txBody>
      </p:sp>
      <p:sp>
        <p:nvSpPr>
          <p:cNvPr id="136" name="Gate label 2"/>
          <p:cNvSpPr/>
          <p:nvPr/>
        </p:nvSpPr>
        <p:spPr>
          <a:xfrm>
            <a:off x="22494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Position</a:t>
            </a:r>
          </a:p>
        </p:txBody>
      </p:sp>
      <p:sp>
        <p:nvSpPr>
          <p:cNvPr id="137" name="Gate arrow 2"/>
          <p:cNvSpPr/>
          <p:nvPr/>
        </p:nvSpPr>
        <p:spPr>
          <a:xfrm>
            <a:off x="34930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38" name="Gate 3"/>
          <p:cNvSpPr/>
          <p:nvPr/>
        </p:nvSpPr>
        <p:spPr>
          <a:xfrm>
            <a:off x="37033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39" name="Gate number 3"/>
          <p:cNvSpPr/>
          <p:nvPr/>
        </p:nvSpPr>
        <p:spPr>
          <a:xfrm>
            <a:off x="38496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03</a:t>
            </a:r>
          </a:p>
        </p:txBody>
      </p:sp>
      <p:sp>
        <p:nvSpPr>
          <p:cNvPr id="140" name="Gate label 3"/>
          <p:cNvSpPr/>
          <p:nvPr/>
        </p:nvSpPr>
        <p:spPr>
          <a:xfrm>
            <a:off x="38496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Oracle</a:t>
            </a:r>
          </a:p>
        </p:txBody>
      </p:sp>
      <p:sp>
        <p:nvSpPr>
          <p:cNvPr id="141" name="Gate arrow 3"/>
          <p:cNvSpPr/>
          <p:nvPr/>
        </p:nvSpPr>
        <p:spPr>
          <a:xfrm>
            <a:off x="50932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42" name="Gate 4"/>
          <p:cNvSpPr/>
          <p:nvPr/>
        </p:nvSpPr>
        <p:spPr>
          <a:xfrm>
            <a:off x="53035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43" name="Gate number 4"/>
          <p:cNvSpPr/>
          <p:nvPr/>
        </p:nvSpPr>
        <p:spPr>
          <a:xfrm>
            <a:off x="54498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04</a:t>
            </a:r>
          </a:p>
        </p:txBody>
      </p:sp>
      <p:sp>
        <p:nvSpPr>
          <p:cNvPr id="144" name="Gate label 4"/>
          <p:cNvSpPr/>
          <p:nvPr/>
        </p:nvSpPr>
        <p:spPr>
          <a:xfrm>
            <a:off x="54498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Market</a:t>
            </a:r>
          </a:p>
        </p:txBody>
      </p:sp>
      <p:sp>
        <p:nvSpPr>
          <p:cNvPr id="145" name="Gate arrow 4"/>
          <p:cNvSpPr/>
          <p:nvPr/>
        </p:nvSpPr>
        <p:spPr>
          <a:xfrm>
            <a:off x="66934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46" name="Gate 5"/>
          <p:cNvSpPr/>
          <p:nvPr/>
        </p:nvSpPr>
        <p:spPr>
          <a:xfrm>
            <a:off x="69037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47" name="Gate number 5"/>
          <p:cNvSpPr/>
          <p:nvPr/>
        </p:nvSpPr>
        <p:spPr>
          <a:xfrm>
            <a:off x="70500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05</a:t>
            </a:r>
          </a:p>
        </p:txBody>
      </p:sp>
      <p:sp>
        <p:nvSpPr>
          <p:cNvPr id="148" name="Gate label 5"/>
          <p:cNvSpPr/>
          <p:nvPr/>
        </p:nvSpPr>
        <p:spPr>
          <a:xfrm>
            <a:off x="70500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Geometry</a:t>
            </a:r>
          </a:p>
        </p:txBody>
      </p:sp>
      <p:sp>
        <p:nvSpPr>
          <p:cNvPr id="149" name="Gate arrow 5"/>
          <p:cNvSpPr/>
          <p:nvPr/>
        </p:nvSpPr>
        <p:spPr>
          <a:xfrm>
            <a:off x="82936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50" name="Gate 6"/>
          <p:cNvSpPr/>
          <p:nvPr/>
        </p:nvSpPr>
        <p:spPr>
          <a:xfrm>
            <a:off x="85039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51" name="Gate number 6"/>
          <p:cNvSpPr/>
          <p:nvPr/>
        </p:nvSpPr>
        <p:spPr>
          <a:xfrm>
            <a:off x="86502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06</a:t>
            </a:r>
          </a:p>
        </p:txBody>
      </p:sp>
      <p:sp>
        <p:nvSpPr>
          <p:cNvPr id="152" name="Gate label 6"/>
          <p:cNvSpPr/>
          <p:nvPr/>
        </p:nvSpPr>
        <p:spPr>
          <a:xfrm>
            <a:off x="86502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F5F7F5"/>
                </a:solidFill>
                <a:latin typeface="Aptos"/>
              </a:rPr>
              <a:t>Max loss</a:t>
            </a:r>
          </a:p>
        </p:txBody>
      </p:sp>
      <p:sp>
        <p:nvSpPr>
          <p:cNvPr id="153" name="Gate arrow 6"/>
          <p:cNvSpPr/>
          <p:nvPr/>
        </p:nvSpPr>
        <p:spPr>
          <a:xfrm>
            <a:off x="9893808" y="32918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800" b="1">
                <a:solidFill>
                  <a:srgbClr val="9CA3AF"/>
                </a:solidFill>
                <a:latin typeface="Consolas"/>
              </a:rPr>
              <a:t>&gt;</a:t>
            </a:r>
          </a:p>
        </p:txBody>
      </p:sp>
      <p:sp>
        <p:nvSpPr>
          <p:cNvPr id="154" name="Gate 7"/>
          <p:cNvSpPr/>
          <p:nvPr/>
        </p:nvSpPr>
        <p:spPr>
          <a:xfrm>
            <a:off x="10104120" y="2980944"/>
            <a:ext cx="1325880" cy="91440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43B96B"/>
            </a:solidFill>
          </a:ln>
        </p:spPr>
      </p:sp>
      <p:sp>
        <p:nvSpPr>
          <p:cNvPr id="155" name="Gate number 7"/>
          <p:cNvSpPr/>
          <p:nvPr/>
        </p:nvSpPr>
        <p:spPr>
          <a:xfrm>
            <a:off x="10250424" y="316382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400" b="1">
                <a:solidFill>
                  <a:srgbClr val="43B96B"/>
                </a:solidFill>
                <a:latin typeface="Consolas"/>
              </a:rPr>
              <a:t>07</a:t>
            </a:r>
          </a:p>
        </p:txBody>
      </p:sp>
      <p:sp>
        <p:nvSpPr>
          <p:cNvPr id="156" name="Gate label 7"/>
          <p:cNvSpPr/>
          <p:nvPr/>
        </p:nvSpPr>
        <p:spPr>
          <a:xfrm>
            <a:off x="10250424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43B96B"/>
                </a:solidFill>
                <a:latin typeface="Aptos"/>
              </a:rPr>
              <a:t>Alpaca</a:t>
            </a:r>
          </a:p>
        </p:txBody>
      </p:sp>
      <p:sp>
        <p:nvSpPr>
          <p:cNvPr id="157" name="Evidence 1"/>
          <p:cNvSpPr/>
          <p:nvPr/>
        </p:nvSpPr>
        <p:spPr>
          <a:xfrm>
            <a:off x="1051560" y="4983480"/>
            <a:ext cx="2743200" cy="566928"/>
          </a:xfrm>
          <a:prstGeom prst="roundRect">
            <a:avLst/>
          </a:prstGeom>
          <a:solidFill>
            <a:srgbClr val="08120D"/>
          </a:solidFill>
          <a:ln w="9525">
            <a:solidFill>
              <a:srgbClr val="43B96B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43B96B"/>
                </a:solidFill>
                <a:latin typeface="Aptos"/>
              </a:rPr>
              <a:t>Built from ChainQuote data</a:t>
            </a:r>
          </a:p>
        </p:txBody>
      </p:sp>
      <p:sp>
        <p:nvSpPr>
          <p:cNvPr id="158" name="Evidence 2"/>
          <p:cNvSpPr/>
          <p:nvPr/>
        </p:nvSpPr>
        <p:spPr>
          <a:xfrm>
            <a:off x="4480560" y="4983480"/>
            <a:ext cx="2743200" cy="566928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Alpaca mleg via stdin</a:t>
            </a:r>
          </a:p>
        </p:txBody>
      </p:sp>
      <p:sp>
        <p:nvSpPr>
          <p:cNvPr id="159" name="Evidence 3"/>
          <p:cNvSpPr/>
          <p:nvPr/>
        </p:nvSpPr>
        <p:spPr>
          <a:xfrm>
            <a:off x="7909560" y="4983480"/>
            <a:ext cx="2743200" cy="566928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  <p:txBody>
          <a:bodyPr wrap="square" lIns="91440" rIns="91440" tIns="91440" bIns="91440"/>
          <a:lstStyle/>
          <a:p>
            <a:r>
              <a:rPr lang="en-US" sz="1400" b="1">
                <a:solidFill>
                  <a:srgbClr val="F5F7F5"/>
                </a:solidFill>
                <a:latin typeface="Aptos"/>
              </a:rPr>
              <a:t>forge-gate: no_std + unsafe-denied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4"/>
          </a:solidFill>
          <a:ln w="9525">
            <a:solidFill>
              <a:srgbClr val="030504"/>
            </a:solidFill>
          </a:ln>
        </p:spPr>
      </p:sp>
      <p:sp>
        <p:nvSpPr>
          <p:cNvPr id="3" name="Grid vertical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" name="Grid vertical"/>
          <p:cNvSpPr/>
          <p:nvPr/>
        </p:nvSpPr>
        <p:spPr>
          <a:xfrm>
            <a:off x="22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" name="Grid vertical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" name="Grid vertical"/>
          <p:cNvSpPr/>
          <p:nvPr/>
        </p:nvSpPr>
        <p:spPr>
          <a:xfrm>
            <a:off x="68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" name="Grid vertical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" name="Grid vertical"/>
          <p:cNvSpPr/>
          <p:nvPr/>
        </p:nvSpPr>
        <p:spPr>
          <a:xfrm>
            <a:off x="1143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9" name="Grid vertical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0" name="Grid vertical"/>
          <p:cNvSpPr/>
          <p:nvPr/>
        </p:nvSpPr>
        <p:spPr>
          <a:xfrm>
            <a:off x="1600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1" name="Grid vertical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2" name="Grid vertical"/>
          <p:cNvSpPr/>
          <p:nvPr/>
        </p:nvSpPr>
        <p:spPr>
          <a:xfrm>
            <a:off x="2057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3" name="Grid vertical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4" name="Grid vertical"/>
          <p:cNvSpPr/>
          <p:nvPr/>
        </p:nvSpPr>
        <p:spPr>
          <a:xfrm>
            <a:off x="2514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5" name="Grid vertical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" name="Grid vertical"/>
          <p:cNvSpPr/>
          <p:nvPr/>
        </p:nvSpPr>
        <p:spPr>
          <a:xfrm>
            <a:off x="2971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7" name="Grid vertical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8" name="Grid vertical"/>
          <p:cNvSpPr/>
          <p:nvPr/>
        </p:nvSpPr>
        <p:spPr>
          <a:xfrm>
            <a:off x="3429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9" name="Grid vertical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0" name="Grid vertical"/>
          <p:cNvSpPr/>
          <p:nvPr/>
        </p:nvSpPr>
        <p:spPr>
          <a:xfrm>
            <a:off x="3886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1" name="Grid vertical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2" name="Grid vertical"/>
          <p:cNvSpPr/>
          <p:nvPr/>
        </p:nvSpPr>
        <p:spPr>
          <a:xfrm>
            <a:off x="4343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3" name="Grid vertical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4" name="Grid vertical"/>
          <p:cNvSpPr/>
          <p:nvPr/>
        </p:nvSpPr>
        <p:spPr>
          <a:xfrm>
            <a:off x="4800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5" name="Grid vertical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6" name="Grid vertical"/>
          <p:cNvSpPr/>
          <p:nvPr/>
        </p:nvSpPr>
        <p:spPr>
          <a:xfrm>
            <a:off x="5257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7" name="Grid vertical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8" name="Grid vertical"/>
          <p:cNvSpPr/>
          <p:nvPr/>
        </p:nvSpPr>
        <p:spPr>
          <a:xfrm>
            <a:off x="5715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29" name="Grid vertical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0" name="Grid vertical"/>
          <p:cNvSpPr/>
          <p:nvPr/>
        </p:nvSpPr>
        <p:spPr>
          <a:xfrm>
            <a:off x="6172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1" name="Grid vertical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2" name="Grid vertical"/>
          <p:cNvSpPr/>
          <p:nvPr/>
        </p:nvSpPr>
        <p:spPr>
          <a:xfrm>
            <a:off x="6629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3" name="Grid vertical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4" name="Grid vertical"/>
          <p:cNvSpPr/>
          <p:nvPr/>
        </p:nvSpPr>
        <p:spPr>
          <a:xfrm>
            <a:off x="7086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5" name="Grid vertical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6" name="Grid vertical"/>
          <p:cNvSpPr/>
          <p:nvPr/>
        </p:nvSpPr>
        <p:spPr>
          <a:xfrm>
            <a:off x="7543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7" name="Grid vertical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8" name="Grid vertical"/>
          <p:cNvSpPr/>
          <p:nvPr/>
        </p:nvSpPr>
        <p:spPr>
          <a:xfrm>
            <a:off x="8001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39" name="Grid vertical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0" name="Grid vertical"/>
          <p:cNvSpPr/>
          <p:nvPr/>
        </p:nvSpPr>
        <p:spPr>
          <a:xfrm>
            <a:off x="8458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1" name="Grid vertical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2" name="Grid vertical"/>
          <p:cNvSpPr/>
          <p:nvPr/>
        </p:nvSpPr>
        <p:spPr>
          <a:xfrm>
            <a:off x="8915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3" name="Grid vertical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4" name="Grid vertical"/>
          <p:cNvSpPr/>
          <p:nvPr/>
        </p:nvSpPr>
        <p:spPr>
          <a:xfrm>
            <a:off x="9372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5" name="Grid vertical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6" name="Grid vertical"/>
          <p:cNvSpPr/>
          <p:nvPr/>
        </p:nvSpPr>
        <p:spPr>
          <a:xfrm>
            <a:off x="9829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7" name="Grid vertical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8" name="Grid vertical"/>
          <p:cNvSpPr/>
          <p:nvPr/>
        </p:nvSpPr>
        <p:spPr>
          <a:xfrm>
            <a:off x="10287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49" name="Grid vertical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0" name="Grid vertical"/>
          <p:cNvSpPr/>
          <p:nvPr/>
        </p:nvSpPr>
        <p:spPr>
          <a:xfrm>
            <a:off x="10744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1" name="Grid vertical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2" name="Grid vertical"/>
          <p:cNvSpPr/>
          <p:nvPr/>
        </p:nvSpPr>
        <p:spPr>
          <a:xfrm>
            <a:off x="112014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3" name="Grid vertical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4" name="Grid vertical"/>
          <p:cNvSpPr/>
          <p:nvPr/>
        </p:nvSpPr>
        <p:spPr>
          <a:xfrm>
            <a:off x="116586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5" name="Grid vertical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6" name="Grid vertical"/>
          <p:cNvSpPr/>
          <p:nvPr/>
        </p:nvSpPr>
        <p:spPr>
          <a:xfrm>
            <a:off x="12115800" y="0"/>
            <a:ext cx="5486" cy="6858000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7" name="Grid horizontal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8" name="Grid horizontal"/>
          <p:cNvSpPr/>
          <p:nvPr/>
        </p:nvSpPr>
        <p:spPr>
          <a:xfrm>
            <a:off x="0" y="228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59" name="Grid horizontal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0" name="Grid horizontal"/>
          <p:cNvSpPr/>
          <p:nvPr/>
        </p:nvSpPr>
        <p:spPr>
          <a:xfrm>
            <a:off x="0" y="685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1" name="Grid horizontal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2" name="Grid horizontal"/>
          <p:cNvSpPr/>
          <p:nvPr/>
        </p:nvSpPr>
        <p:spPr>
          <a:xfrm>
            <a:off x="0" y="1143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3" name="Grid horizontal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4" name="Grid horizontal"/>
          <p:cNvSpPr/>
          <p:nvPr/>
        </p:nvSpPr>
        <p:spPr>
          <a:xfrm>
            <a:off x="0" y="1600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5" name="Grid horizontal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6" name="Grid horizontal"/>
          <p:cNvSpPr/>
          <p:nvPr/>
        </p:nvSpPr>
        <p:spPr>
          <a:xfrm>
            <a:off x="0" y="2057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7" name="Grid horizontal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8" name="Grid horizontal"/>
          <p:cNvSpPr/>
          <p:nvPr/>
        </p:nvSpPr>
        <p:spPr>
          <a:xfrm>
            <a:off x="0" y="2514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69" name="Grid horizontal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0" name="Grid horizontal"/>
          <p:cNvSpPr/>
          <p:nvPr/>
        </p:nvSpPr>
        <p:spPr>
          <a:xfrm>
            <a:off x="0" y="2971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1" name="Grid horizontal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2" name="Grid horizontal"/>
          <p:cNvSpPr/>
          <p:nvPr/>
        </p:nvSpPr>
        <p:spPr>
          <a:xfrm>
            <a:off x="0" y="3429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3" name="Grid horizontal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4" name="Grid horizontal"/>
          <p:cNvSpPr/>
          <p:nvPr/>
        </p:nvSpPr>
        <p:spPr>
          <a:xfrm>
            <a:off x="0" y="3886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5" name="Grid horizontal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6" name="Grid horizontal"/>
          <p:cNvSpPr/>
          <p:nvPr/>
        </p:nvSpPr>
        <p:spPr>
          <a:xfrm>
            <a:off x="0" y="4343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7" name="Grid horizontal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8" name="Grid horizontal"/>
          <p:cNvSpPr/>
          <p:nvPr/>
        </p:nvSpPr>
        <p:spPr>
          <a:xfrm>
            <a:off x="0" y="4800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79" name="Grid horizontal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0" name="Grid horizontal"/>
          <p:cNvSpPr/>
          <p:nvPr/>
        </p:nvSpPr>
        <p:spPr>
          <a:xfrm>
            <a:off x="0" y="5257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1" name="Grid horizontal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2" name="Grid horizontal"/>
          <p:cNvSpPr/>
          <p:nvPr/>
        </p:nvSpPr>
        <p:spPr>
          <a:xfrm>
            <a:off x="0" y="5715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3" name="Grid horizontal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4" name="Grid horizontal"/>
          <p:cNvSpPr/>
          <p:nvPr/>
        </p:nvSpPr>
        <p:spPr>
          <a:xfrm>
            <a:off x="0" y="61722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5" name="Grid horizontal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6" name="Grid horizontal"/>
          <p:cNvSpPr/>
          <p:nvPr/>
        </p:nvSpPr>
        <p:spPr>
          <a:xfrm>
            <a:off x="0" y="66294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87" name="Grid horizontal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161B18"/>
          </a:solidFill>
          <a:ln>
            <a:noFill/>
          </a:ln>
        </p:spPr>
      </p:sp>
      <p:sp>
        <p:nvSpPr>
          <p:cNvPr id="160" name="Logo"/>
          <p:cNvSpPr/>
          <p:nvPr/>
        </p:nvSpPr>
        <p:spPr>
          <a:xfrm>
            <a:off x="612648" y="329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600" b="1">
                <a:solidFill>
                  <a:srgbClr val="F5F7F5"/>
                </a:solidFill>
                <a:latin typeface="Aptos Display"/>
              </a:rPr>
              <a:t>13forge</a:t>
            </a:r>
          </a:p>
        </p:txBody>
      </p:sp>
      <p:sp>
        <p:nvSpPr>
          <p:cNvPr id="161" name="Title"/>
          <p:cNvSpPr/>
          <p:nvPr/>
        </p:nvSpPr>
        <p:spPr>
          <a:xfrm>
            <a:off x="612648" y="950976"/>
            <a:ext cx="5394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3600" b="1">
                <a:solidFill>
                  <a:srgbClr val="F5F7F5"/>
                </a:solidFill>
                <a:latin typeface="Aptos Display"/>
              </a:rPr>
              <a:t>The proof is refusal.</a:t>
            </a:r>
          </a:p>
        </p:txBody>
      </p:sp>
      <p:sp>
        <p:nvSpPr>
          <p:cNvPr id="162" name="Subtitle"/>
          <p:cNvSpPr/>
          <p:nvPr/>
        </p:nvSpPr>
        <p:spPr>
          <a:xfrm>
            <a:off x="630936" y="1719072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700">
                <a:solidFill>
                  <a:srgbClr val="9CA3AF"/>
                </a:solidFill>
                <a:latin typeface="Aptos"/>
              </a:rPr>
              <a:t>The public portal shows the actual refused result.</a:t>
            </a:r>
          </a:p>
        </p:txBody>
      </p:sp>
      <p:pic>
        <p:nvPicPr>
          <p:cNvPr id="163" name="Proof Portal refusal screenshot" descr="Proof Portal refusal screenshot"/>
          <p:cNvPicPr>
            <a:picLocks noChangeAspect="1"/>
          </p:cNvPicPr>
          <p:nvPr/>
        </p:nvPicPr>
        <p:blipFill>
          <a:blip r:embed="rIdRefusalProof"/>
          <a:stretch>
            <a:fillRect/>
          </a:stretch>
        </p:blipFill>
        <p:spPr>
          <a:xfrm>
            <a:off x="6355080" y="987552"/>
            <a:ext cx="4983480" cy="2816352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64" name="Metric card 1"/>
          <p:cNvSpPr/>
          <p:nvPr/>
        </p:nvSpPr>
        <p:spPr>
          <a:xfrm>
            <a:off x="777240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65" name="Metric 1"/>
          <p:cNvSpPr/>
          <p:nvPr/>
        </p:nvSpPr>
        <p:spPr>
          <a:xfrm>
            <a:off x="941832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300" b="1">
                <a:solidFill>
                  <a:srgbClr val="FF3D56"/>
                </a:solidFill>
                <a:latin typeface="Aptos Display"/>
              </a:rPr>
              <a:t>$2,525</a:t>
            </a:r>
          </a:p>
        </p:txBody>
      </p:sp>
      <p:sp>
        <p:nvSpPr>
          <p:cNvPr id="166" name="Metric label 1"/>
          <p:cNvSpPr/>
          <p:nvPr/>
        </p:nvSpPr>
        <p:spPr>
          <a:xfrm>
            <a:off x="941832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max loss</a:t>
            </a:r>
          </a:p>
        </p:txBody>
      </p:sp>
      <p:sp>
        <p:nvSpPr>
          <p:cNvPr id="167" name="Metric card 2"/>
          <p:cNvSpPr/>
          <p:nvPr/>
        </p:nvSpPr>
        <p:spPr>
          <a:xfrm>
            <a:off x="2587752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303834"/>
            </a:solidFill>
          </a:ln>
        </p:spPr>
      </p:sp>
      <p:sp>
        <p:nvSpPr>
          <p:cNvPr id="168" name="Metric 2"/>
          <p:cNvSpPr/>
          <p:nvPr/>
        </p:nvSpPr>
        <p:spPr>
          <a:xfrm>
            <a:off x="2752344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300" b="1">
                <a:solidFill>
                  <a:srgbClr val="F5F7F5"/>
                </a:solidFill>
                <a:latin typeface="Aptos Display"/>
              </a:rPr>
              <a:t>$2,000</a:t>
            </a:r>
          </a:p>
        </p:txBody>
      </p:sp>
      <p:sp>
        <p:nvSpPr>
          <p:cNvPr id="169" name="Metric label 2"/>
          <p:cNvSpPr/>
          <p:nvPr/>
        </p:nvSpPr>
        <p:spPr>
          <a:xfrm>
            <a:off x="2752344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ceiling</a:t>
            </a:r>
          </a:p>
        </p:txBody>
      </p:sp>
      <p:sp>
        <p:nvSpPr>
          <p:cNvPr id="170" name="Metric card 3"/>
          <p:cNvSpPr/>
          <p:nvPr/>
        </p:nvSpPr>
        <p:spPr>
          <a:xfrm>
            <a:off x="4398264" y="2999232"/>
            <a:ext cx="1554480" cy="960120"/>
          </a:xfrm>
          <a:prstGeom prst="roundRect">
            <a:avLst/>
          </a:prstGeom>
          <a:solidFill>
            <a:srgbClr val="121217"/>
          </a:solidFill>
          <a:ln w="9525">
            <a:solidFill>
              <a:srgbClr val="FF3D56"/>
            </a:solidFill>
          </a:ln>
        </p:spPr>
      </p:sp>
      <p:sp>
        <p:nvSpPr>
          <p:cNvPr id="171" name="Metric 3"/>
          <p:cNvSpPr/>
          <p:nvPr/>
        </p:nvSpPr>
        <p:spPr>
          <a:xfrm>
            <a:off x="4562856" y="3218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000" b="1">
                <a:solidFill>
                  <a:srgbClr val="FF3D56"/>
                </a:solidFill>
                <a:latin typeface="Aptos Display"/>
              </a:rPr>
              <a:t>REFUSED</a:t>
            </a:r>
          </a:p>
        </p:txBody>
      </p:sp>
      <p:sp>
        <p:nvSpPr>
          <p:cNvPr id="172" name="Metric label 3"/>
          <p:cNvSpPr/>
          <p:nvPr/>
        </p:nvSpPr>
        <p:spPr>
          <a:xfrm>
            <a:off x="4562856" y="365760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100" b="1">
                <a:solidFill>
                  <a:srgbClr val="9CA3AF"/>
                </a:solidFill>
                <a:latin typeface="Aptos"/>
              </a:rPr>
              <a:t>no broker call</a:t>
            </a:r>
          </a:p>
        </p:txBody>
      </p:sp>
      <p:pic>
        <p:nvPicPr>
          <p:cNvPr id="173" name="Proof video QR code" descr="Proof video QR code"/>
          <p:cNvPicPr>
            <a:picLocks noChangeAspect="1"/>
          </p:cNvPicPr>
          <p:nvPr/>
        </p:nvPicPr>
        <p:blipFill>
          <a:blip r:embed="rIdProofQr"/>
          <a:stretch>
            <a:fillRect/>
          </a:stretch>
        </p:blipFill>
        <p:spPr>
          <a:xfrm>
            <a:off x="9985248" y="4096512"/>
            <a:ext cx="1078992" cy="1078992"/>
          </a:xfrm>
          <a:prstGeom prst="rect">
            <a:avLst/>
          </a:prstGeom>
          <a:ln w="19050">
            <a:solidFill>
              <a:srgbClr val="303834"/>
            </a:solidFill>
          </a:ln>
        </p:spPr>
      </p:pic>
      <p:sp>
        <p:nvSpPr>
          <p:cNvPr id="174" name="Proof CTA"/>
          <p:cNvSpPr/>
          <p:nvPr/>
        </p:nvSpPr>
        <p:spPr>
          <a:xfrm>
            <a:off x="777240" y="4800600"/>
            <a:ext cx="2468880" cy="457200"/>
          </a:xfrm>
          <a:prstGeom prst="roundRect">
            <a:avLst/>
          </a:prstGeom>
          <a:solidFill>
            <a:srgbClr val="08120D"/>
          </a:solidFill>
          <a:ln w="9525">
            <a:solidFill>
              <a:srgbClr val="43B96B"/>
            </a:solidFill>
          </a:ln>
        </p:spPr>
        <p:txBody>
          <a:bodyPr wrap="square" lIns="91440" rIns="91440" tIns="91440" bIns="91440"/>
          <a:lstStyle/>
          <a:p>
            <a:r>
              <a:rPr lang="en-US" sz="1500" b="1">
                <a:solidFill>
                  <a:srgbClr val="43B96B"/>
                </a:solidFill>
                <a:latin typeface="Aptos"/>
              </a:rPr>
              <a:t>WATCH THE PROOF</a:t>
            </a:r>
          </a:p>
        </p:txBody>
      </p:sp>
      <p:sp>
        <p:nvSpPr>
          <p:cNvPr id="175" name="Proof URL"/>
          <p:cNvSpPr/>
          <p:nvPr/>
        </p:nvSpPr>
        <p:spPr>
          <a:xfrm>
            <a:off x="3401568" y="491032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1300" b="1">
                <a:solidFill>
                  <a:srgbClr val="9CA3AF"/>
                </a:solidFill>
                <a:latin typeface="Aptos"/>
              </a:rPr>
              <a:t>youtu.be/IrLmPIXukyo</a:t>
            </a:r>
          </a:p>
        </p:txBody>
      </p:sp>
      <p:sp>
        <p:nvSpPr>
          <p:cNvPr id="176" name="Close"/>
          <p:cNvSpPr/>
          <p:nvPr/>
        </p:nvSpPr>
        <p:spPr>
          <a:xfrm>
            <a:off x="777240" y="58064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r>
              <a:rPr lang="en-US" sz="2200" b="1">
                <a:solidFill>
                  <a:srgbClr val="F5F7F5"/>
                </a:solidFill>
                <a:latin typeface="Aptos Display"/>
              </a:rPr>
              <a:t>Controlled agency for AI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28600" dist="95250" dir="5400000">
              <a:srgbClr val="111411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2026-09-04T05:29:51.8350000Z</dcterms:created>
  <dcterms:modified xsi:type="dcterms:W3CDTF">2026-09-04T05:29:51.8350000Z</dcterms:modified>
</coreProperties>
</file>