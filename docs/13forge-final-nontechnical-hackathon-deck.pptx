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a40375c274d65" /><Relationship Type="http://schemas.openxmlformats.org/officeDocument/2006/relationships/extended-properties" Target="/docProps/app.xml" Id="Rbe3f661ec220403a" /><Relationship Type="http://schemas.openxmlformats.org/officeDocument/2006/relationships/officeDocument" Target="/ppt/presentation.xml" Id="R749ed44c8628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473daa86e48fa"/>
  </p:sldMasterIdLst>
  <p:notesMasterIdLst>
    <p:notesMasterId xmlns:r="http://schemas.openxmlformats.org/officeDocument/2006/relationships" r:id="Rc35496fbace64115"/>
  </p:notesMasterIdLst>
  <p:sldIdLst>
    <p:sldId xmlns:r="http://schemas.openxmlformats.org/officeDocument/2006/relationships" id="256" r:id="R40caf09b1a7345f0"/>
    <p:sldId xmlns:r="http://schemas.openxmlformats.org/officeDocument/2006/relationships" id="257" r:id="R6330eb6d15cd4f66"/>
    <p:sldId xmlns:r="http://schemas.openxmlformats.org/officeDocument/2006/relationships" id="258" r:id="R3b5202b234da442c"/>
    <p:sldId xmlns:r="http://schemas.openxmlformats.org/officeDocument/2006/relationships" id="259" r:id="Rd0e6d5030ecc48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3825ed534585462f" /><Relationship Type="http://schemas.openxmlformats.org/officeDocument/2006/relationships/slideMaster" Target="/ppt/slideMasters/slideMaster1.xml" Id="Rd64473daa86e48fa" /><Relationship Type="http://schemas.openxmlformats.org/officeDocument/2006/relationships/notesMaster" Target="/ppt/notesMasters/notesMaster1.xml" Id="Rc35496fbace64115" /><Relationship Type="http://schemas.openxmlformats.org/officeDocument/2006/relationships/presProps" Target="/ppt/presProps.xml" Id="Rce71fff428ed4abe" /><Relationship Type="http://schemas.openxmlformats.org/officeDocument/2006/relationships/tableStyles" Target="/ppt/tableStyles.xml" Id="R9be64e82028a43e0" /><Relationship Type="http://schemas.openxmlformats.org/officeDocument/2006/relationships/slide" Target="/ppt/slides/slide1.xml" Id="R40caf09b1a7345f0" /><Relationship Type="http://schemas.openxmlformats.org/officeDocument/2006/relationships/slide" Target="/ppt/slides/slide2.xml" Id="R6330eb6d15cd4f66" /><Relationship Type="http://schemas.openxmlformats.org/officeDocument/2006/relationships/slide" Target="/ppt/slides/slide3.xml" Id="R3b5202b234da442c" /><Relationship Type="http://schemas.openxmlformats.org/officeDocument/2006/relationships/slide" Target="/ppt/slides/slide4.xml" Id="Rd0e6d5030ecc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f1f973ffaa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822e3fddd4dc1" /><Relationship Type="http://schemas.openxmlformats.org/officeDocument/2006/relationships/notesMaster" Target="/ppt/notesMasters/notesMaster1.xml" Id="R06b85d98c81a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5ac23c95b4cab" /><Relationship Type="http://schemas.openxmlformats.org/officeDocument/2006/relationships/notesMaster" Target="/ppt/notesMasters/notesMaster1.xml" Id="Rebbbfb073577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a3335bc954e52" /><Relationship Type="http://schemas.openxmlformats.org/officeDocument/2006/relationships/notesMaster" Target="/ppt/notesMasters/notesMaster1.xml" Id="R5e38362a6dbd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74b9ad3ec14493" /><Relationship Type="http://schemas.openxmlformats.org/officeDocument/2006/relationships/notesMaster" Target="/ppt/notesMasters/notesMaster1.xml" Id="R301f0a5943c64fb2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Start in plain language. The problem is not whether AI can come up with a trade idea. The problem is what happens next. In 13forge, the idea has to pass a safety check before money can move toward Alpaca.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This slide is where the judge sees the product. Keep the explanation simple: 13forge shows the AI idea, runs visible safety checks, and returns a clear result. The screenshot matters because it proves this is not only a pitch concept.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This is the engineering, translated for a non-technical judge. Every proposed trade goes through the same checkpoints: account condition, current position, AI approval, market condition, trade shape, and loss limit. Alpaca is last, and it is only reached when the checks pass.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Close with the proof in human terms. The proposed trade could lose two thousand five hundred twenty-five dollars, but the account limit is two thousand dollars. 13forge refuses it, and Alpaca is not reached. That is the whole product promise in one moment.</a:t>
            </a: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0bdb7fc5c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7ccfd7c034951" /><Relationship Type="http://schemas.openxmlformats.org/officeDocument/2006/relationships/slideLayout" Target="/ppt/slideLayouts/slideLayout1.xml" Id="R46dfef1fb463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fef1fb463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28c88ce5454299" /><Relationship Type="http://schemas.openxmlformats.org/officeDocument/2006/relationships/notesSlide" Target="/ppt/notesSlides/notesSlide1.xml" Id="R1382c3db484148d5" /><Relationship Type="http://schemas.openxmlformats.org/officeDocument/2006/relationships/image" Target="../media/13forge-logo-dark.svg" Id="rIdLogoDark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95cfb99fdbe4ace" /><Relationship Type="http://schemas.openxmlformats.org/officeDocument/2006/relationships/notesSlide" Target="/ppt/notesSlides/notesSlide2.xml" Id="R2c18858973034d44" /><Relationship Type="http://schemas.openxmlformats.org/officeDocument/2006/relationships/image" Target="../media/slide2-product-proof-crop.png" Id="rIdProductProo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53e7e49af41a4" /><Relationship Type="http://schemas.openxmlformats.org/officeDocument/2006/relationships/notesSlide" Target="/ppt/notesSlides/notesSlide3.xml" Id="Rc40b8bc91a0048bf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49968ba959c4af8" /><Relationship Type="http://schemas.openxmlformats.org/officeDocument/2006/relationships/notesSlide" Target="/ppt/notesSlides/notesSlide4.xml" Id="R393fa8b1dc2a4bee" /><Relationship Type="http://schemas.openxmlformats.org/officeDocument/2006/relationships/image" Target="../media/slide4-refusal-proof-crop.png" Id="rIdRefusalProof" /><Relationship Type="http://schemas.openxmlformats.org/officeDocument/2006/relationships/image" Target="../media/proof-video-qr.png" Id="rIdProofQr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0" name="Logo mark"/>
          <p:cNvSpPr/>
          <p:nvPr/>
        </p:nvSpPr>
        <p:spPr>
          <a:xfrm>
            <a:off x="612648" y="329184"/>
            <a:ext cx="31089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 b="1">
                <a:solidFill>
                  <a:srgbClr val="43B96B"/>
                </a:solidFill>
                <a:latin typeface="Consolas"/>
              </a:rPr>
              <a:t>&gt;</a:t>
            </a:r>
          </a:p>
        </p:txBody>
      </p:sp>
      <p:sp>
        <p:nvSpPr>
          <p:cNvPr id="101" name="Logo wordmark"/>
          <p:cNvSpPr/>
          <p:nvPr/>
        </p:nvSpPr>
        <p:spPr>
          <a:xfrm>
            <a:off x="969264" y="310896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4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02" name="Title"/>
          <p:cNvSpPr/>
          <p:nvPr/>
        </p:nvSpPr>
        <p:spPr>
          <a:xfrm>
            <a:off x="612648" y="1234440"/>
            <a:ext cx="9738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800" b="1">
                <a:solidFill>
                  <a:srgbClr val="F5F7F5"/>
                </a:solidFill>
                <a:latin typeface="Aptos Display"/>
              </a:rPr>
              <a:t>AI can suggest a trade. 13forge checks it before money moves.</a:t>
            </a:r>
          </a:p>
        </p:txBody>
      </p:sp>
      <p:sp>
        <p:nvSpPr>
          <p:cNvPr id="103" name="Subtitle"/>
          <p:cNvSpPr/>
          <p:nvPr/>
        </p:nvSpPr>
        <p:spPr>
          <a:xfrm>
            <a:off x="630936" y="2615184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000">
                <a:solidFill>
                  <a:srgbClr val="9CA3AF"/>
                </a:solidFill>
                <a:latin typeface="Aptos"/>
              </a:rPr>
              <a:t>A bad idea should stop at the safety check, not reach the broker.</a:t>
            </a:r>
          </a:p>
        </p:txBody>
      </p:sp>
      <p:sp>
        <p:nvSpPr>
          <p:cNvPr id="104" name="Flow panel"/>
          <p:cNvSpPr/>
          <p:nvPr/>
        </p:nvSpPr>
        <p:spPr>
          <a:xfrm>
            <a:off x="731520" y="4224528"/>
            <a:ext cx="10744200" cy="109728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05" name="Flow 1"/>
          <p:cNvSpPr/>
          <p:nvPr/>
        </p:nvSpPr>
        <p:spPr>
          <a:xfrm>
            <a:off x="1170432" y="46177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Aptos"/>
              </a:rPr>
              <a:t>AI idea</a:t>
            </a:r>
          </a:p>
        </p:txBody>
      </p:sp>
      <p:sp>
        <p:nvSpPr>
          <p:cNvPr id="106" name="Arrow 1"/>
          <p:cNvSpPr/>
          <p:nvPr/>
        </p:nvSpPr>
        <p:spPr>
          <a:xfrm>
            <a:off x="3520440" y="4544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400" b="1">
                <a:solidFill>
                  <a:srgbClr val="43B96B"/>
                </a:solidFill>
                <a:latin typeface="Consolas"/>
              </a:rPr>
              <a:t>&gt;</a:t>
            </a:r>
          </a:p>
        </p:txBody>
      </p:sp>
      <p:sp>
        <p:nvSpPr>
          <p:cNvPr id="107" name="Flow 2"/>
          <p:cNvSpPr/>
          <p:nvPr/>
        </p:nvSpPr>
        <p:spPr>
          <a:xfrm>
            <a:off x="4251960" y="46177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Aptos"/>
              </a:rPr>
              <a:t>Safety check</a:t>
            </a:r>
          </a:p>
        </p:txBody>
      </p:sp>
      <p:sp>
        <p:nvSpPr>
          <p:cNvPr id="108" name="Stop"/>
          <p:cNvSpPr/>
          <p:nvPr/>
        </p:nvSpPr>
        <p:spPr>
          <a:xfrm>
            <a:off x="6812280" y="4544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400" b="1">
                <a:solidFill>
                  <a:srgbClr val="FF3D56"/>
                </a:solidFill>
                <a:latin typeface="Consolas"/>
              </a:rPr>
              <a:t>x</a:t>
            </a:r>
          </a:p>
        </p:txBody>
      </p:sp>
      <p:sp>
        <p:nvSpPr>
          <p:cNvPr id="109" name="Flow 3"/>
          <p:cNvSpPr/>
          <p:nvPr/>
        </p:nvSpPr>
        <p:spPr>
          <a:xfrm>
            <a:off x="7571232" y="461772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FF3D56"/>
                </a:solidFill>
                <a:latin typeface="Aptos"/>
              </a:rPr>
              <a:t>Broker blocked</a:t>
            </a:r>
          </a:p>
        </p:txBody>
      </p:sp>
      <p:sp>
        <p:nvSpPr>
          <p:cNvPr id="110" name="Footer"/>
          <p:cNvSpPr/>
          <p:nvPr/>
        </p:nvSpPr>
        <p:spPr>
          <a:xfrm>
            <a:off x="612648" y="6144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200" b="1">
                <a:solidFill>
                  <a:srgbClr val="43B96B"/>
                </a:solidFill>
                <a:latin typeface="Aptos"/>
              </a:rPr>
              <a:t>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1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12" name="Title"/>
          <p:cNvSpPr/>
          <p:nvPr/>
        </p:nvSpPr>
        <p:spPr>
          <a:xfrm>
            <a:off x="612648" y="960120"/>
            <a:ext cx="566928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 b="1">
                <a:solidFill>
                  <a:srgbClr val="F5F7F5"/>
                </a:solidFill>
                <a:latin typeface="Aptos Display"/>
              </a:rPr>
              <a:t>The product makes the decision visible.</a:t>
            </a:r>
          </a:p>
        </p:txBody>
      </p:sp>
      <p:sp>
        <p:nvSpPr>
          <p:cNvPr id="113" name="Subtitle"/>
          <p:cNvSpPr/>
          <p:nvPr/>
        </p:nvSpPr>
        <p:spPr>
          <a:xfrm>
            <a:off x="630936" y="2176272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600">
                <a:solidFill>
                  <a:srgbClr val="9CA3AF"/>
                </a:solidFill>
                <a:latin typeface="Aptos"/>
              </a:rPr>
              <a:t>A judge can see the idea, the checks, and the result in one screen.</a:t>
            </a:r>
          </a:p>
        </p:txBody>
      </p:sp>
      <p:pic>
        <p:nvPicPr>
          <p:cNvPr id="114" name="Proof Portal replay screenshot" descr="Proof Portal replay screenshot"/>
          <p:cNvPicPr>
            <a:picLocks noChangeAspect="1"/>
          </p:cNvPicPr>
          <p:nvPr/>
        </p:nvPicPr>
        <p:blipFill>
          <a:blip r:embed="rIdProductProof"/>
          <a:stretch>
            <a:fillRect/>
          </a:stretch>
        </p:blipFill>
        <p:spPr>
          <a:xfrm>
            <a:off x="6080760" y="960120"/>
            <a:ext cx="5257800" cy="3931920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15" name="Step 1"/>
          <p:cNvSpPr/>
          <p:nvPr/>
        </p:nvSpPr>
        <p:spPr>
          <a:xfrm>
            <a:off x="74980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16" name="Step number 1"/>
          <p:cNvSpPr/>
          <p:nvPr/>
        </p:nvSpPr>
        <p:spPr>
          <a:xfrm>
            <a:off x="89611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1</a:t>
            </a:r>
          </a:p>
        </p:txBody>
      </p:sp>
      <p:sp>
        <p:nvSpPr>
          <p:cNvPr id="117" name="Step title 1"/>
          <p:cNvSpPr/>
          <p:nvPr/>
        </p:nvSpPr>
        <p:spPr>
          <a:xfrm>
            <a:off x="122529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Idea</a:t>
            </a:r>
          </a:p>
        </p:txBody>
      </p:sp>
      <p:sp>
        <p:nvSpPr>
          <p:cNvPr id="118" name="Step body 1"/>
          <p:cNvSpPr/>
          <p:nvPr/>
        </p:nvSpPr>
        <p:spPr>
          <a:xfrm>
            <a:off x="122529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AI suggests</a:t>
            </a:r>
          </a:p>
        </p:txBody>
      </p:sp>
      <p:sp>
        <p:nvSpPr>
          <p:cNvPr id="119" name="Step 2"/>
          <p:cNvSpPr/>
          <p:nvPr/>
        </p:nvSpPr>
        <p:spPr>
          <a:xfrm>
            <a:off x="248716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20" name="Step number 2"/>
          <p:cNvSpPr/>
          <p:nvPr/>
        </p:nvSpPr>
        <p:spPr>
          <a:xfrm>
            <a:off x="263347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2</a:t>
            </a:r>
          </a:p>
        </p:txBody>
      </p:sp>
      <p:sp>
        <p:nvSpPr>
          <p:cNvPr id="121" name="Step title 2"/>
          <p:cNvSpPr/>
          <p:nvPr/>
        </p:nvSpPr>
        <p:spPr>
          <a:xfrm>
            <a:off x="296265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Check</a:t>
            </a:r>
          </a:p>
        </p:txBody>
      </p:sp>
      <p:sp>
        <p:nvSpPr>
          <p:cNvPr id="122" name="Step body 2"/>
          <p:cNvSpPr/>
          <p:nvPr/>
        </p:nvSpPr>
        <p:spPr>
          <a:xfrm>
            <a:off x="296265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Rules test it</a:t>
            </a:r>
          </a:p>
        </p:txBody>
      </p:sp>
      <p:sp>
        <p:nvSpPr>
          <p:cNvPr id="123" name="Step 3"/>
          <p:cNvSpPr/>
          <p:nvPr/>
        </p:nvSpPr>
        <p:spPr>
          <a:xfrm>
            <a:off x="422452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24" name="Step number 3"/>
          <p:cNvSpPr/>
          <p:nvPr/>
        </p:nvSpPr>
        <p:spPr>
          <a:xfrm>
            <a:off x="437083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3</a:t>
            </a:r>
          </a:p>
        </p:txBody>
      </p:sp>
      <p:sp>
        <p:nvSpPr>
          <p:cNvPr id="125" name="Step title 3"/>
          <p:cNvSpPr/>
          <p:nvPr/>
        </p:nvSpPr>
        <p:spPr>
          <a:xfrm>
            <a:off x="470001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Result</a:t>
            </a:r>
          </a:p>
        </p:txBody>
      </p:sp>
      <p:sp>
        <p:nvSpPr>
          <p:cNvPr id="126" name="Step body 3"/>
          <p:cNvSpPr/>
          <p:nvPr/>
        </p:nvSpPr>
        <p:spPr>
          <a:xfrm>
            <a:off x="470001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Explain why</a:t>
            </a:r>
          </a:p>
        </p:txBody>
      </p:sp>
      <p:sp>
        <p:nvSpPr>
          <p:cNvPr id="127" name="Close"/>
          <p:cNvSpPr/>
          <p:nvPr/>
        </p:nvSpPr>
        <p:spPr>
          <a:xfrm>
            <a:off x="749808" y="5440680"/>
            <a:ext cx="5303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 b="1">
                <a:solidFill>
                  <a:srgbClr val="43B96B"/>
                </a:solidFill>
                <a:latin typeface="Aptos Display"/>
              </a:rPr>
              <a:t>A real product, not a slide-only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8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29" name="Title"/>
          <p:cNvSpPr/>
          <p:nvPr/>
        </p:nvSpPr>
        <p:spPr>
          <a:xfrm>
            <a:off x="612648" y="107899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600" b="1">
                <a:solidFill>
                  <a:srgbClr val="F5F7F5"/>
                </a:solidFill>
                <a:latin typeface="Aptos Display"/>
              </a:rPr>
              <a:t>Every trade has to pass the same checks.</a:t>
            </a:r>
          </a:p>
        </p:txBody>
      </p:sp>
      <p:sp>
        <p:nvSpPr>
          <p:cNvPr id="130" name="Subtitle"/>
          <p:cNvSpPr/>
          <p:nvPr/>
        </p:nvSpPr>
        <p:spPr>
          <a:xfrm>
            <a:off x="630936" y="187452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>
                <a:solidFill>
                  <a:srgbClr val="9CA3AF"/>
                </a:solidFill>
                <a:latin typeface="Aptos"/>
              </a:rPr>
              <a:t>If one check fails, Alpaca never receives the order.</a:t>
            </a:r>
          </a:p>
        </p:txBody>
      </p:sp>
      <p:sp>
        <p:nvSpPr>
          <p:cNvPr id="131" name="Gate 1"/>
          <p:cNvSpPr/>
          <p:nvPr/>
        </p:nvSpPr>
        <p:spPr>
          <a:xfrm>
            <a:off x="5029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32" name="Gate number 1"/>
          <p:cNvSpPr/>
          <p:nvPr/>
        </p:nvSpPr>
        <p:spPr>
          <a:xfrm>
            <a:off x="6492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01</a:t>
            </a:r>
          </a:p>
        </p:txBody>
      </p:sp>
      <p:sp>
        <p:nvSpPr>
          <p:cNvPr id="133" name="Gate label 1"/>
          <p:cNvSpPr/>
          <p:nvPr/>
        </p:nvSpPr>
        <p:spPr>
          <a:xfrm>
            <a:off x="6492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Account</a:t>
            </a:r>
          </a:p>
        </p:txBody>
      </p:sp>
      <p:sp>
        <p:nvSpPr>
          <p:cNvPr id="134" name="Gate arrow 1"/>
          <p:cNvSpPr/>
          <p:nvPr/>
        </p:nvSpPr>
        <p:spPr>
          <a:xfrm>
            <a:off x="18928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35" name="Gate 2"/>
          <p:cNvSpPr/>
          <p:nvPr/>
        </p:nvSpPr>
        <p:spPr>
          <a:xfrm>
            <a:off x="21031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36" name="Gate number 2"/>
          <p:cNvSpPr/>
          <p:nvPr/>
        </p:nvSpPr>
        <p:spPr>
          <a:xfrm>
            <a:off x="22494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02</a:t>
            </a:r>
          </a:p>
        </p:txBody>
      </p:sp>
      <p:sp>
        <p:nvSpPr>
          <p:cNvPr id="137" name="Gate label 2"/>
          <p:cNvSpPr/>
          <p:nvPr/>
        </p:nvSpPr>
        <p:spPr>
          <a:xfrm>
            <a:off x="22494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Position</a:t>
            </a:r>
          </a:p>
        </p:txBody>
      </p:sp>
      <p:sp>
        <p:nvSpPr>
          <p:cNvPr id="138" name="Gate arrow 2"/>
          <p:cNvSpPr/>
          <p:nvPr/>
        </p:nvSpPr>
        <p:spPr>
          <a:xfrm>
            <a:off x="34930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39" name="Gate 3"/>
          <p:cNvSpPr/>
          <p:nvPr/>
        </p:nvSpPr>
        <p:spPr>
          <a:xfrm>
            <a:off x="37033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40" name="Gate number 3"/>
          <p:cNvSpPr/>
          <p:nvPr/>
        </p:nvSpPr>
        <p:spPr>
          <a:xfrm>
            <a:off x="38496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03</a:t>
            </a:r>
          </a:p>
        </p:txBody>
      </p:sp>
      <p:sp>
        <p:nvSpPr>
          <p:cNvPr id="141" name="Gate label 3"/>
          <p:cNvSpPr/>
          <p:nvPr/>
        </p:nvSpPr>
        <p:spPr>
          <a:xfrm>
            <a:off x="38496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AI approval</a:t>
            </a:r>
          </a:p>
        </p:txBody>
      </p:sp>
      <p:sp>
        <p:nvSpPr>
          <p:cNvPr id="142" name="Gate arrow 3"/>
          <p:cNvSpPr/>
          <p:nvPr/>
        </p:nvSpPr>
        <p:spPr>
          <a:xfrm>
            <a:off x="50932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43" name="Gate 4"/>
          <p:cNvSpPr/>
          <p:nvPr/>
        </p:nvSpPr>
        <p:spPr>
          <a:xfrm>
            <a:off x="53035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44" name="Gate number 4"/>
          <p:cNvSpPr/>
          <p:nvPr/>
        </p:nvSpPr>
        <p:spPr>
          <a:xfrm>
            <a:off x="54498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04</a:t>
            </a:r>
          </a:p>
        </p:txBody>
      </p:sp>
      <p:sp>
        <p:nvSpPr>
          <p:cNvPr id="145" name="Gate label 4"/>
          <p:cNvSpPr/>
          <p:nvPr/>
        </p:nvSpPr>
        <p:spPr>
          <a:xfrm>
            <a:off x="54498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Market</a:t>
            </a:r>
          </a:p>
        </p:txBody>
      </p:sp>
      <p:sp>
        <p:nvSpPr>
          <p:cNvPr id="146" name="Gate arrow 4"/>
          <p:cNvSpPr/>
          <p:nvPr/>
        </p:nvSpPr>
        <p:spPr>
          <a:xfrm>
            <a:off x="66934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47" name="Gate 5"/>
          <p:cNvSpPr/>
          <p:nvPr/>
        </p:nvSpPr>
        <p:spPr>
          <a:xfrm>
            <a:off x="69037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48" name="Gate number 5"/>
          <p:cNvSpPr/>
          <p:nvPr/>
        </p:nvSpPr>
        <p:spPr>
          <a:xfrm>
            <a:off x="70500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05</a:t>
            </a:r>
          </a:p>
        </p:txBody>
      </p:sp>
      <p:sp>
        <p:nvSpPr>
          <p:cNvPr id="149" name="Gate label 5"/>
          <p:cNvSpPr/>
          <p:nvPr/>
        </p:nvSpPr>
        <p:spPr>
          <a:xfrm>
            <a:off x="70500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Trade shape</a:t>
            </a:r>
          </a:p>
        </p:txBody>
      </p:sp>
      <p:sp>
        <p:nvSpPr>
          <p:cNvPr id="150" name="Gate arrow 5"/>
          <p:cNvSpPr/>
          <p:nvPr/>
        </p:nvSpPr>
        <p:spPr>
          <a:xfrm>
            <a:off x="82936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51" name="Gate 6"/>
          <p:cNvSpPr/>
          <p:nvPr/>
        </p:nvSpPr>
        <p:spPr>
          <a:xfrm>
            <a:off x="85039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52" name="Gate number 6"/>
          <p:cNvSpPr/>
          <p:nvPr/>
        </p:nvSpPr>
        <p:spPr>
          <a:xfrm>
            <a:off x="86502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06</a:t>
            </a:r>
          </a:p>
        </p:txBody>
      </p:sp>
      <p:sp>
        <p:nvSpPr>
          <p:cNvPr id="153" name="Gate label 6"/>
          <p:cNvSpPr/>
          <p:nvPr/>
        </p:nvSpPr>
        <p:spPr>
          <a:xfrm>
            <a:off x="86502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Loss limit</a:t>
            </a:r>
          </a:p>
        </p:txBody>
      </p:sp>
      <p:sp>
        <p:nvSpPr>
          <p:cNvPr id="154" name="Gate arrow 6"/>
          <p:cNvSpPr/>
          <p:nvPr/>
        </p:nvSpPr>
        <p:spPr>
          <a:xfrm>
            <a:off x="98938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55" name="Gate 7"/>
          <p:cNvSpPr/>
          <p:nvPr/>
        </p:nvSpPr>
        <p:spPr>
          <a:xfrm>
            <a:off x="101041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43B96B"/>
            </a:solidFill>
          </a:ln>
        </p:spPr>
      </p:sp>
      <p:sp>
        <p:nvSpPr>
          <p:cNvPr id="156" name="Gate number 7"/>
          <p:cNvSpPr/>
          <p:nvPr/>
        </p:nvSpPr>
        <p:spPr>
          <a:xfrm>
            <a:off x="102504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07</a:t>
            </a:r>
          </a:p>
        </p:txBody>
      </p:sp>
      <p:sp>
        <p:nvSpPr>
          <p:cNvPr id="157" name="Gate label 7"/>
          <p:cNvSpPr/>
          <p:nvPr/>
        </p:nvSpPr>
        <p:spPr>
          <a:xfrm>
            <a:off x="102504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43B96B"/>
                </a:solidFill>
                <a:latin typeface="Aptos"/>
              </a:rPr>
              <a:t>Alpaca</a:t>
            </a:r>
          </a:p>
        </p:txBody>
      </p:sp>
      <p:sp>
        <p:nvSpPr>
          <p:cNvPr id="158" name="Evidence 1"/>
          <p:cNvSpPr/>
          <p:nvPr/>
        </p:nvSpPr>
        <p:spPr>
          <a:xfrm>
            <a:off x="1051560" y="4983480"/>
            <a:ext cx="2743200" cy="566928"/>
          </a:xfrm>
          <a:prstGeom prst="roundRect">
            <a:avLst/>
          </a:prstGeom>
          <a:solidFill>
            <a:srgbClr val="08120D"/>
          </a:solidFill>
          <a:ln w="9525">
            <a:solidFill>
              <a:srgbClr val="43B96B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43B96B"/>
                </a:solidFill>
                <a:latin typeface="Aptos"/>
              </a:rPr>
              <a:t>Uses real market data</a:t>
            </a:r>
          </a:p>
        </p:txBody>
      </p:sp>
      <p:sp>
        <p:nvSpPr>
          <p:cNvPr id="159" name="Evidence 2"/>
          <p:cNvSpPr/>
          <p:nvPr/>
        </p:nvSpPr>
        <p:spPr>
          <a:xfrm>
            <a:off x="4480560" y="4983480"/>
            <a:ext cx="2743200" cy="566928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Builds broker order only after pass</a:t>
            </a:r>
          </a:p>
        </p:txBody>
      </p:sp>
      <p:sp>
        <p:nvSpPr>
          <p:cNvPr id="160" name="Evidence 3"/>
          <p:cNvSpPr/>
          <p:nvPr/>
        </p:nvSpPr>
        <p:spPr>
          <a:xfrm>
            <a:off x="7909560" y="4983480"/>
            <a:ext cx="2743200" cy="566928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Refuses unsafe trades by default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1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62" name="Title"/>
          <p:cNvSpPr/>
          <p:nvPr/>
        </p:nvSpPr>
        <p:spPr>
          <a:xfrm>
            <a:off x="612648" y="950976"/>
            <a:ext cx="5394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600" b="1">
                <a:solidFill>
                  <a:srgbClr val="F5F7F5"/>
                </a:solidFill>
                <a:latin typeface="Aptos Display"/>
              </a:rPr>
              <a:t>Unsafe trade stopped.</a:t>
            </a:r>
          </a:p>
        </p:txBody>
      </p:sp>
      <p:sp>
        <p:nvSpPr>
          <p:cNvPr id="163" name="Subtitle"/>
          <p:cNvSpPr/>
          <p:nvPr/>
        </p:nvSpPr>
        <p:spPr>
          <a:xfrm>
            <a:off x="630936" y="1719072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700">
                <a:solidFill>
                  <a:srgbClr val="9CA3AF"/>
                </a:solidFill>
                <a:latin typeface="Aptos"/>
              </a:rPr>
              <a:t>The loss is too high, so the broker is not reached.</a:t>
            </a:r>
          </a:p>
        </p:txBody>
      </p:sp>
      <p:pic>
        <p:nvPicPr>
          <p:cNvPr id="164" name="Proof Portal refusal screenshot" descr="Proof Portal refusal screenshot"/>
          <p:cNvPicPr>
            <a:picLocks noChangeAspect="1"/>
          </p:cNvPicPr>
          <p:nvPr/>
        </p:nvPicPr>
        <p:blipFill>
          <a:blip r:embed="rIdRefusalProof"/>
          <a:stretch>
            <a:fillRect/>
          </a:stretch>
        </p:blipFill>
        <p:spPr>
          <a:xfrm>
            <a:off x="6355080" y="987552"/>
            <a:ext cx="4983480" cy="2816352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65" name="Metric card 1"/>
          <p:cNvSpPr/>
          <p:nvPr/>
        </p:nvSpPr>
        <p:spPr>
          <a:xfrm>
            <a:off x="777240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66" name="Metric 1"/>
          <p:cNvSpPr/>
          <p:nvPr/>
        </p:nvSpPr>
        <p:spPr>
          <a:xfrm>
            <a:off x="941832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300" b="1">
                <a:solidFill>
                  <a:srgbClr val="FF3D56"/>
                </a:solidFill>
                <a:latin typeface="Aptos Display"/>
              </a:rPr>
              <a:t>$2,525</a:t>
            </a:r>
          </a:p>
        </p:txBody>
      </p:sp>
      <p:sp>
        <p:nvSpPr>
          <p:cNvPr id="167" name="Metric label 1"/>
          <p:cNvSpPr/>
          <p:nvPr/>
        </p:nvSpPr>
        <p:spPr>
          <a:xfrm>
            <a:off x="941832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possible loss</a:t>
            </a:r>
          </a:p>
        </p:txBody>
      </p:sp>
      <p:sp>
        <p:nvSpPr>
          <p:cNvPr id="168" name="Metric card 2"/>
          <p:cNvSpPr/>
          <p:nvPr/>
        </p:nvSpPr>
        <p:spPr>
          <a:xfrm>
            <a:off x="2587752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69" name="Metric 2"/>
          <p:cNvSpPr/>
          <p:nvPr/>
        </p:nvSpPr>
        <p:spPr>
          <a:xfrm>
            <a:off x="2752344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300" b="1">
                <a:solidFill>
                  <a:srgbClr val="F5F7F5"/>
                </a:solidFill>
                <a:latin typeface="Aptos Display"/>
              </a:rPr>
              <a:t>$2,000</a:t>
            </a:r>
          </a:p>
        </p:txBody>
      </p:sp>
      <p:sp>
        <p:nvSpPr>
          <p:cNvPr id="170" name="Metric label 2"/>
          <p:cNvSpPr/>
          <p:nvPr/>
        </p:nvSpPr>
        <p:spPr>
          <a:xfrm>
            <a:off x="2752344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allowed limit</a:t>
            </a:r>
          </a:p>
        </p:txBody>
      </p:sp>
      <p:sp>
        <p:nvSpPr>
          <p:cNvPr id="171" name="Metric card 3"/>
          <p:cNvSpPr/>
          <p:nvPr/>
        </p:nvSpPr>
        <p:spPr>
          <a:xfrm>
            <a:off x="4398264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FF3D56"/>
            </a:solidFill>
          </a:ln>
        </p:spPr>
      </p:sp>
      <p:sp>
        <p:nvSpPr>
          <p:cNvPr id="172" name="Metric 3"/>
          <p:cNvSpPr/>
          <p:nvPr/>
        </p:nvSpPr>
        <p:spPr>
          <a:xfrm>
            <a:off x="4562856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000" b="1">
                <a:solidFill>
                  <a:srgbClr val="FF3D56"/>
                </a:solidFill>
                <a:latin typeface="Aptos Display"/>
              </a:rPr>
              <a:t>REFUSED</a:t>
            </a:r>
          </a:p>
        </p:txBody>
      </p:sp>
      <p:sp>
        <p:nvSpPr>
          <p:cNvPr id="173" name="Metric label 3"/>
          <p:cNvSpPr/>
          <p:nvPr/>
        </p:nvSpPr>
        <p:spPr>
          <a:xfrm>
            <a:off x="4562856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No Alpaca</a:t>
            </a:r>
          </a:p>
        </p:txBody>
      </p:sp>
      <p:pic>
        <p:nvPicPr>
          <p:cNvPr id="174" name="Proof video QR code" descr="Proof video QR code"/>
          <p:cNvPicPr>
            <a:picLocks noChangeAspect="1"/>
          </p:cNvPicPr>
          <p:nvPr/>
        </p:nvPicPr>
        <p:blipFill>
          <a:blip r:embed="rIdProofQr"/>
          <a:stretch>
            <a:fillRect/>
          </a:stretch>
        </p:blipFill>
        <p:spPr>
          <a:xfrm>
            <a:off x="9985248" y="4096512"/>
            <a:ext cx="1078992" cy="1078992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75" name="Proof CTA"/>
          <p:cNvSpPr/>
          <p:nvPr/>
        </p:nvSpPr>
        <p:spPr>
          <a:xfrm>
            <a:off x="777240" y="4800600"/>
            <a:ext cx="2468880" cy="457200"/>
          </a:xfrm>
          <a:prstGeom prst="roundRect">
            <a:avLst/>
          </a:prstGeom>
          <a:solidFill>
            <a:srgbClr val="08120D"/>
          </a:solidFill>
          <a:ln w="9525">
            <a:solidFill>
              <a:srgbClr val="43B96B"/>
            </a:solidFill>
          </a:ln>
        </p:spPr>
        <p:txBody>
          <a:bodyPr wrap="square" lIns="91440" rIns="91440" tIns="91440" bIns="91440"/>
          <a:lstStyle/>
          <a:p>
            <a:r>
              <a:rPr lang="en-US" sz="1500" b="1">
                <a:solidFill>
                  <a:srgbClr val="43B96B"/>
                </a:solidFill>
                <a:latin typeface="Aptos"/>
              </a:rPr>
              <a:t>WATCH THE PROOF</a:t>
            </a:r>
          </a:p>
        </p:txBody>
      </p:sp>
      <p:sp>
        <p:nvSpPr>
          <p:cNvPr id="176" name="Proof URL"/>
          <p:cNvSpPr/>
          <p:nvPr/>
        </p:nvSpPr>
        <p:spPr>
          <a:xfrm>
            <a:off x="3401568" y="491032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9CA3AF"/>
                </a:solidFill>
                <a:latin typeface="Aptos"/>
              </a:rPr>
              <a:t>youtu.be/IrLmPIXukyo</a:t>
            </a:r>
          </a:p>
        </p:txBody>
      </p:sp>
      <p:sp>
        <p:nvSpPr>
          <p:cNvPr id="177" name="Close"/>
          <p:cNvSpPr/>
          <p:nvPr/>
        </p:nvSpPr>
        <p:spPr>
          <a:xfrm>
            <a:off x="777240" y="58064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 b="1">
                <a:solidFill>
                  <a:srgbClr val="F5F7F5"/>
                </a:solidFill>
                <a:latin typeface="Aptos Display"/>
              </a:rPr>
              <a:t>AI can suggest. 13forge decides.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2026-09-04T05:29:51.8350000Z</dcterms:created>
  <dcterms:modified xsi:type="dcterms:W3CDTF">2026-09-04T05:29:51.8350000Z</dcterms:modified>
</coreProperties>
</file>